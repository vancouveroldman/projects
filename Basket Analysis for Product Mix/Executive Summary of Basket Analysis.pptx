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D47149-FBAB-44EF-8D65-1BEB73C93F0D}" v="6" dt="2026-02-12T18:51:36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8" autoAdjust="0"/>
    <p:restoredTop sz="90717" autoAdjust="0"/>
  </p:normalViewPr>
  <p:slideViewPr>
    <p:cSldViewPr snapToGrid="0">
      <p:cViewPr varScale="1">
        <p:scale>
          <a:sx n="59" d="100"/>
          <a:sy n="59" d="100"/>
        </p:scale>
        <p:origin x="23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Liu" userId="586e31c1-b4f5-42dc-992c-03faa1ddbd00" providerId="ADAL" clId="{75FEB2F2-4515-4203-AB8A-56FFA5125F4C}"/>
    <pc:docChg chg="custSel modSld">
      <pc:chgData name="Alex Liu" userId="586e31c1-b4f5-42dc-992c-03faa1ddbd00" providerId="ADAL" clId="{75FEB2F2-4515-4203-AB8A-56FFA5125F4C}" dt="2026-02-12T18:52:08.363" v="53" actId="20577"/>
      <pc:docMkLst>
        <pc:docMk/>
      </pc:docMkLst>
      <pc:sldChg chg="modSp mod">
        <pc:chgData name="Alex Liu" userId="586e31c1-b4f5-42dc-992c-03faa1ddbd00" providerId="ADAL" clId="{75FEB2F2-4515-4203-AB8A-56FFA5125F4C}" dt="2026-02-12T18:52:08.363" v="53" actId="20577"/>
        <pc:sldMkLst>
          <pc:docMk/>
          <pc:sldMk cId="0" sldId="256"/>
        </pc:sldMkLst>
        <pc:spChg chg="mod">
          <ac:chgData name="Alex Liu" userId="586e31c1-b4f5-42dc-992c-03faa1ddbd00" providerId="ADAL" clId="{75FEB2F2-4515-4203-AB8A-56FFA5125F4C}" dt="2026-02-12T18:52:08.363" v="53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2BC1-5E95-454B-8B3E-535602D68B7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0B25-D5F9-46F6-9BBB-B81AD746DB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2BC1-5E95-454B-8B3E-535602D68B7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0B25-D5F9-46F6-9BBB-B81AD746DB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2BC1-5E95-454B-8B3E-535602D68B7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0B25-D5F9-46F6-9BBB-B81AD746DB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2BC1-5E95-454B-8B3E-535602D68B7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0B25-D5F9-46F6-9BBB-B81AD746DB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2BC1-5E95-454B-8B3E-535602D68B7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0B25-D5F9-46F6-9BBB-B81AD746DB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2BC1-5E95-454B-8B3E-535602D68B7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0B25-D5F9-46F6-9BBB-B81AD746DB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2BC1-5E95-454B-8B3E-535602D68B7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0B25-D5F9-46F6-9BBB-B81AD746DB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2BC1-5E95-454B-8B3E-535602D68B7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0B25-D5F9-46F6-9BBB-B81AD746DB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2BC1-5E95-454B-8B3E-535602D68B7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0B25-D5F9-46F6-9BBB-B81AD746DB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2BC1-5E95-454B-8B3E-535602D68B7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0B25-D5F9-46F6-9BBB-B81AD746DB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2BC1-5E95-454B-8B3E-535602D68B7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0B25-D5F9-46F6-9BBB-B81AD746DB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82BC1-5E95-454B-8B3E-535602D68B7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A0B25-D5F9-46F6-9BBB-B81AD746DB9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38200" y="249037"/>
            <a:ext cx="10515600" cy="864000"/>
          </a:xfrm>
        </p:spPr>
        <p:txBody>
          <a:bodyPr/>
          <a:lstStyle/>
          <a:p>
            <a:r>
              <a:rPr lang="en-US" b="0" i="0" u="none" strike="noStrike" baseline="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Executive Summary</a:t>
            </a:r>
            <a:endParaRPr lang="en-US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407670" y="1122045"/>
            <a:ext cx="11226165" cy="5176520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tabLst>
                <a:tab pos="3324225" algn="l"/>
              </a:tabLst>
            </a:pPr>
            <a:r>
              <a:rPr lang="en-US" sz="1800" b="1" dirty="0">
                <a:solidFill>
                  <a:srgbClr val="000000"/>
                </a:solidFill>
              </a:rPr>
              <a:t>Crosstab Analysis:</a:t>
            </a:r>
          </a:p>
          <a:p>
            <a:pPr lvl="1" algn="l">
              <a:lnSpc>
                <a:spcPct val="100000"/>
              </a:lnSpc>
              <a:spcBef>
                <a:spcPts val="300"/>
              </a:spcBef>
              <a:buClrTx/>
              <a:buSzTx/>
              <a:tabLst>
                <a:tab pos="3324225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The customers who are male, separated and with the age over 54 years old have the highest potential towards our product.</a:t>
            </a: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pos="3324225" algn="l"/>
              </a:tabLst>
            </a:pPr>
            <a:r>
              <a:rPr lang="en-US" sz="1800" b="1" dirty="0">
                <a:solidFill>
                  <a:srgbClr val="000000"/>
                </a:solidFill>
              </a:rPr>
              <a:t>Conjoint Analysis:</a:t>
            </a:r>
          </a:p>
          <a:p>
            <a:pPr lvl="1" algn="l">
              <a:lnSpc>
                <a:spcPct val="100000"/>
              </a:lnSpc>
              <a:spcBef>
                <a:spcPts val="300"/>
              </a:spcBef>
              <a:buClrTx/>
              <a:buSzTx/>
              <a:tabLst>
                <a:tab pos="3324225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The customers in general prefer the products with Super Bowl, theme A and low price($3.5).</a:t>
            </a: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pos="3324225" algn="l"/>
              </a:tabLst>
            </a:pPr>
            <a:r>
              <a:rPr lang="en-US" sz="1800" b="1" dirty="0">
                <a:solidFill>
                  <a:srgbClr val="000000"/>
                </a:solidFill>
              </a:rPr>
              <a:t>Cluster Analysis:</a:t>
            </a: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pos="3324225" algn="l"/>
              </a:tabLst>
            </a:pPr>
            <a:r>
              <a:rPr lang="en-US" sz="1800" b="1" dirty="0">
                <a:solidFill>
                  <a:srgbClr val="000000"/>
                </a:solidFill>
              </a:rPr>
              <a:t>5 Clusters:</a:t>
            </a:r>
          </a:p>
          <a:p>
            <a:pPr lvl="1" algn="l">
              <a:lnSpc>
                <a:spcPct val="100000"/>
              </a:lnSpc>
              <a:spcBef>
                <a:spcPts val="300"/>
              </a:spcBef>
              <a:buClrTx/>
              <a:buSzTx/>
              <a:tabLst>
                <a:tab pos="3324225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The customers are gouped into B Super Bowl (20%), Price Only</a:t>
            </a:r>
            <a:r>
              <a:rPr lang="en-US" sz="1800" dirty="0">
                <a:solidFill>
                  <a:srgbClr val="000000"/>
                </a:solidFill>
                <a:sym typeface="+mn-ea"/>
              </a:rPr>
              <a:t> (22%), A Super Bowl (19%), A Tennis (20%) and B Tennis (19%).</a:t>
            </a:r>
            <a:endParaRPr lang="en-US" sz="1800" dirty="0">
              <a:solidFill>
                <a:srgbClr val="000000"/>
              </a:solidFill>
            </a:endParaRPr>
          </a:p>
          <a:p>
            <a:pPr lvl="1" algn="l">
              <a:lnSpc>
                <a:spcPct val="100000"/>
              </a:lnSpc>
              <a:spcBef>
                <a:spcPts val="300"/>
              </a:spcBef>
              <a:buClrTx/>
              <a:buSzTx/>
              <a:tabLst>
                <a:tab pos="3324225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The results is consistent with conjoint analysis: the percentage of A Group is larger than B Group, the percentage of Super Bowl Group is larger than Tennis Group.</a:t>
            </a: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pos="3324225" algn="l"/>
              </a:tabLst>
            </a:pPr>
            <a:r>
              <a:rPr lang="en-US" sz="1800" b="1" dirty="0">
                <a:solidFill>
                  <a:srgbClr val="000000"/>
                </a:solidFill>
              </a:rPr>
              <a:t>4 Clusters:</a:t>
            </a:r>
          </a:p>
          <a:p>
            <a:pPr lvl="1" algn="l">
              <a:lnSpc>
                <a:spcPct val="100000"/>
              </a:lnSpc>
              <a:spcBef>
                <a:spcPts val="300"/>
              </a:spcBef>
              <a:buClrTx/>
              <a:buSzTx/>
              <a:tabLst>
                <a:tab pos="3324225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The customer are grouped into B Super Bowl(20%), </a:t>
            </a:r>
            <a:r>
              <a:rPr lang="en-US" sz="1800" dirty="0">
                <a:solidFill>
                  <a:srgbClr val="000000"/>
                </a:solidFill>
                <a:sym typeface="+mn-ea"/>
              </a:rPr>
              <a:t>Price Only (22%), Tennis Only (39%) and A Super Bowl(19%).</a:t>
            </a:r>
          </a:p>
          <a:p>
            <a:pPr lvl="1" algn="l">
              <a:lnSpc>
                <a:spcPct val="100000"/>
              </a:lnSpc>
              <a:spcBef>
                <a:spcPts val="300"/>
              </a:spcBef>
              <a:buClrTx/>
              <a:buSzTx/>
              <a:tabLst>
                <a:tab pos="3324225" algn="l"/>
              </a:tabLst>
            </a:pPr>
            <a:r>
              <a:rPr lang="en-US" sz="1800" dirty="0">
                <a:solidFill>
                  <a:srgbClr val="000000"/>
                </a:solidFill>
                <a:sym typeface="+mn-ea"/>
              </a:rPr>
              <a:t>Compared the situation in 4 Clusters, Tennis Only(39%) disappears in 5 Clusters and further breaks into A Tennis(20%) and B Tennis(19%)</a:t>
            </a:r>
          </a:p>
          <a:p>
            <a:pPr lvl="1" algn="l">
              <a:lnSpc>
                <a:spcPct val="100000"/>
              </a:lnSpc>
              <a:spcBef>
                <a:spcPts val="300"/>
              </a:spcBef>
              <a:buClrTx/>
              <a:buSzTx/>
              <a:tabLst>
                <a:tab pos="3324225" algn="l"/>
              </a:tabLst>
            </a:pPr>
            <a:r>
              <a:rPr lang="en-US" sz="1800" dirty="0">
                <a:solidFill>
                  <a:srgbClr val="000000"/>
                </a:solidFill>
                <a:sym typeface="+mn-ea"/>
              </a:rPr>
              <a:t>The algorithm combined two minor groups into a single group and ignore the character </a:t>
            </a:r>
            <a:r>
              <a:rPr lang="en-US" sz="1800">
                <a:solidFill>
                  <a:srgbClr val="000000"/>
                </a:solidFill>
                <a:sym typeface="+mn-ea"/>
              </a:rPr>
              <a:t>of theme.</a:t>
            </a:r>
            <a:endParaRPr lang="en-US" sz="1800" dirty="0">
              <a:solidFill>
                <a:srgbClr val="000000"/>
              </a:solidFill>
              <a:sym typeface="+mn-ea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pos="3324225" algn="l"/>
              </a:tabLst>
            </a:pPr>
            <a:endParaRPr lang="en-US" sz="1600" dirty="0">
              <a:solidFill>
                <a:srgbClr val="7F7F7F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pos="3324225" algn="l"/>
              </a:tabLst>
            </a:pPr>
            <a:endParaRPr lang="en-US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pos="3324225" algn="l"/>
              </a:tabLst>
            </a:pPr>
            <a:endParaRPr lang="en-US" sz="16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becf7ca-6b36-4147-97ae-c6d81deb6109"/>
  <p:tag name="COMMONDATA" val="eyJoZGlkIjoiZDk3ZTk0ZGI1NmQzMjkzZDRjYjNhZDAwZDdlODU1OGMifQ==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199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Executive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creator>Jaqueline Moreira</dc:creator>
  <cp:lastModifiedBy>Alex Liu</cp:lastModifiedBy>
  <cp:revision>78</cp:revision>
  <dcterms:created xsi:type="dcterms:W3CDTF">2022-11-04T23:27:00Z</dcterms:created>
  <dcterms:modified xsi:type="dcterms:W3CDTF">2026-02-12T18:52:08Z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217FE698366847028879DC905299DBF1</vt:lpwstr>
  </property>
  <property fmtid="{D5CDD505-2E9C-101B-9397-08002B2CF9AE}" pid="3" name="KSOProductBuildVer">
    <vt:lpwstr>2052-11.1.0.12980</vt:lpwstr>
  </property>
</Properties>
</file>